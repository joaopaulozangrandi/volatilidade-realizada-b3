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087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Volatilidade Realizada com Dados Intradiarios: Evidencias para Acoes da 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97763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5F0"/>
                </a:solidFill>
              </a:defRPr>
            </a:pPr>
            <a:r>
              <a:t>Joao Paulo Zangrandi | FGV EESP | Trabalho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Objetivo e pergunta do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Estimar volatilidade realizada com retornos intradiarios de 5 minutos.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Separar variacao continua e jumps com BV, JV e teste estatistico.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Comparar ativos liquidos com candidatas growth/high-vol/small caps.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Avaliar implicacoes para monitoramento e gestao de risco.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Fonte: Yahoo Finance via yfinance.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Frequencia: candles de 5 minutos; janela solicitada: 60 dias.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Ativos incluidos: 11 de 15 candidatos.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Limitacao: historico intradiario curto e ausencia de dados tick-by-tick.</a:t>
            </a:r>
          </a:p>
        </p:txBody>
      </p:sp>
      <p:pic>
        <p:nvPicPr>
          <p:cNvPr id="6" name="Picture 5" descr="data_coverage_by_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93599"/>
            <a:ext cx="6812280" cy="42365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Estrategia de amostra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Core: grandes acoes liquidas para comparabilidade.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Complementar: growth, small caps e ativos potencialmente mais volateis.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Criterios: 30 dias validos, cobertura &gt;= 70%, &gt;= 40 retornos/dia.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Precos positivos, volume relevante e precos parados &lt;= 50%.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Tratamento dos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Timezone America/Sao_Paulo; teto 17:55 e fechamento efetivo 16:50.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Grade regular de 5 minutos com 83 candles sustentados pela fonte.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Remocao de duplicatas e precos invalidos.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Forward-fill somente dentro do dia; primeiro retorno diario removido.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Fechamento inferido evita uma cauda artificial de retornos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 = soma dos retornos intradiarios ao quadrado.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RVol diaria = raiz de RV; anualizada = raiz de 252 x RV.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BV aproxima variacao continua; JV = max(RV - BV, 0).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Teste BNS com tripower quarticity e quantil normal de 99%.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GARCH(1,1) em retornos diarios close-to-close.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Cobertura da amostra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Incluidos: PETR4.SA, VALE3.SA, ITUB4.SA, BBDC4.SA, B3SA3.SA, WEGE3.SA, ABEV3.SA, TOTS3.SA, LWSA3.SA, MGLU3.SA, CASH3.SA.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Excluidos: BHIA3.SA, CVCB3.SA, AZUL4.SA, VIIA3.SA.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Exclusoes evitam que baixa liquidez contamine jumps e comparacoes.</a:t>
            </a:r>
          </a:p>
        </p:txBody>
      </p:sp>
      <p:pic>
        <p:nvPicPr>
          <p:cNvPr id="6" name="Picture 5" descr="data_coverage_by_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93599"/>
            <a:ext cx="6812280" cy="4236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Volatilidade realizada ao longo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Maior ticker-dia: CASH3.SA com 98.7%.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O maior pico nao foi jump: RV e BV subiram juntas.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Persistencia visual sugere clustering de volatilidade.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Growth/high-vol opera em patamar superior ao core na maior parte da janela.</a:t>
            </a:r>
          </a:p>
        </p:txBody>
      </p:sp>
      <p:pic>
        <p:nvPicPr>
          <p:cNvPr id="6" name="Picture 5" descr="realized_volatility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81118"/>
            <a:ext cx="6812280" cy="3461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Comparacao entre 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Maior RVol anualizada media: CASH3.SA (54.4%).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CASH3, LWSA3 e MGLU3 ocupam as tres primeiras posicoes.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TOTS3 e o ativo core de maior volatilidade media.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Boxplots comparam nivel, dispersao e caudas entre ativos.</a:t>
            </a:r>
          </a:p>
        </p:txBody>
      </p:sp>
      <p:pic>
        <p:nvPicPr>
          <p:cNvPr id="6" name="Picture 5" descr="rvol_boxplot_by_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97207"/>
            <a:ext cx="6812280" cy="4229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Core liquido versus growth/high-vol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core_liquid: RVol=25.7%, jumps=11.0%.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high_vol_growth_candidate: RVol=49.4%, jumps=27.2%.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Razao de RVol complementar/core: 1.92x.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Razao da frequencia de jumps: 2.47x.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Resultado condicionado aos filtros: apenas 3 candidatas passaram.</a:t>
            </a:r>
          </a:p>
        </p:txBody>
      </p:sp>
      <p:pic>
        <p:nvPicPr>
          <p:cNvPr id="6" name="Picture 5" descr="core_vs_high_vo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34493"/>
            <a:ext cx="6812280" cy="23547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Bipower Variation e jumps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BV usa produtos de retornos absolutos adjacentes.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 acima de BV gera JV positiva.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Diferenca economica: risco continuo versus movimentos descontínuos.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JV positiva nao basta: o teste usa TQ e valor critico de 99%.</a:t>
            </a:r>
          </a:p>
        </p:txBody>
      </p:sp>
      <p:pic>
        <p:nvPicPr>
          <p:cNvPr id="6" name="Picture 5" descr="rv_vs_b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16" y="1051560"/>
            <a:ext cx="368412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Frequencia e intensidade dos jumps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Maior frequencia: CASH3.SA (36.7%).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LWSA3 ficou em segundo; VALE3 e ITUB4 tiveram as menores frequencias.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Jump share mede a parcela estimada de RV associada a saltos.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Jumps afetam risco de gap, execucao e stops entre observacoes.</a:t>
            </a:r>
          </a:p>
        </p:txBody>
      </p:sp>
      <p:pic>
        <p:nvPicPr>
          <p:cNvPr id="6" name="Picture 5" descr="jump_frequency_by_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3145"/>
            <a:ext cx="6812280" cy="39374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GARCH versus volatilidade realizada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Persistencia mediana alpha+beta: 0.942.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GARCH captura persistencia com resposta suavizada.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RVol reage diretamente a picos intradiarios e jumps.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Maior correlacao GARCH-RVol ocorreu em B3SA3, ainda moderada.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Close-to-close inclui overnight; RVol intradiaria nao.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Amostra de 59 retornos: parametros devem ser lidos com cautela.</a:t>
            </a:r>
          </a:p>
        </p:txBody>
      </p:sp>
      <p:pic>
        <p:nvPicPr>
          <p:cNvPr id="6" name="Picture 5" descr="garch_vs_realize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656" y="1051560"/>
            <a:ext cx="365704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Eventos de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12 eventos de earnings analisados em t-1, t e t+1.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RVol da janela: 16.7% acima dos dias normais.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Jump days: 25.0% nas janelas vs 16.8% nos dias normais.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Maior elevacao relativa em ABEV3; PETR4 ficou abaixo da media normal.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Evidencia descritiva; fonte terceirizada e sem identificacao causal.</a:t>
            </a:r>
          </a:p>
        </p:txBody>
      </p:sp>
      <p:pic>
        <p:nvPicPr>
          <p:cNvPr id="6" name="Picture 5" descr="event_window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54838"/>
            <a:ext cx="6812280" cy="37140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Implicacoes para gestao de risco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VaR e expected shortfall podem subestimar perdas em jump days.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RVol intradiaria melhora o monitoramento de mudancas rapidas.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Jump risk maior pede limites, margens e sizing conservadores.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Comovimento da volatilidade reduz diversificacao em estresse.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Liquidez baixa exige cautela com falsos jumps.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Limitacoes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Historico intradiario limitado pelo Yahoo Finance.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Ruido de microestrutura e ausencia de ticks.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Resultados dependem da frequencia e sincronizacao.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Small caps podem ter candles faltantes e precos parados.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GARCH diario estimado em amostra curta.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Conclusao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1148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O ranking observado aponta CASH3.SA como maior RVol media.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RV, BV, jumps e GARCH oferecem dimensoes complementares do risco.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Qualidade intradiaria deve ser avaliada antes de inferir jump risk.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Extensoes: ticks B3, HAR-RV, realized kernels e eventos verificados.</a:t>
            </a:r>
          </a:p>
        </p:txBody>
      </p:sp>
      <p:pic>
        <p:nvPicPr>
          <p:cNvPr id="6" name="Picture 5" descr="asset_risk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93599"/>
            <a:ext cx="6812280" cy="42365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A"/>
                </a:solidFill>
              </a:defRPr>
            </a:pPr>
            <a:r>
              <a:t>FGV EESP | Volatilidade Realizada B3 |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8365D"/>
                </a:solidFill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Andersen, Bollerslev, Diebold e Labys (2003).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Barndorff-Nielsen e Shephard (2004, 2006).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Bollerslev (1986).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Documentacao do pacote arch.</a:t>
            </a:r>
          </a:p>
          <a:p>
            <a:pPr>
              <a:spcAft>
                <a:spcPts val="900"/>
              </a:spcAft>
              <a:defRPr sz="1600">
                <a:solidFill>
                  <a:srgbClr val="282C34"/>
                </a:solidFill>
              </a:defRPr>
            </a:pPr>
            <a:r>
              <a:t>• Documentacao do yfinance.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9707A"/>
                </a:solidFill>
              </a:defRPr>
            </a:pPr>
            <a:r>
              <a:t>Referencias completas em report/referencias.md.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